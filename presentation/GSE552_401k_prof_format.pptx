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4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Estimate ($)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C2B-4EC4-B6CB-76AAF20BDD82}"/>
              </c:ext>
            </c:extLst>
          </c:dPt>
          <c:dPt>
            <c:idx val="1"/>
            <c:invertIfNegative val="0"/>
            <c:bubble3D val="0"/>
            <c:spPr>
              <a:solidFill>
                <a:srgbClr val="0F20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C2B-4EC4-B6CB-76AAF20BDD8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ATE
(Full sample)</c:v>
                </c:pt>
                <c:pt idx="1">
                  <c:v>ATET
(Treated only)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10180.09</c:v>
                </c:pt>
                <c:pt idx="1">
                  <c:v>12628.46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C2B-4EC4-B6CB-76AAF20BDD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5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1006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·  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217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Replicating 401(k)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 Effect Estimates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583680" y="1280160"/>
            <a:ext cx="2286000" cy="2671908"/>
          </a:xfrm>
          <a:prstGeom prst="rect">
            <a:avLst/>
          </a:prstGeom>
          <a:solidFill>
            <a:srgbClr val="1B6CA8"/>
          </a:solidFill>
          <a:ln w="12700">
            <a:solidFill>
              <a:srgbClr val="5BA4CF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75120" y="137160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
Metrics in R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Chernozhukov,
Hansen &amp; Spindler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/ Year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 Journal, 2016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" y="2560320"/>
            <a:ext cx="2560320" cy="420624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256032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Patrick Michael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3090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GSE-S552  ·  Replication Project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42976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401(k) participation increase household wealth?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7472" y="4279392"/>
            <a:ext cx="8412480" cy="0"/>
          </a:xfrm>
          <a:prstGeom prst="line">
            <a:avLst/>
          </a:prstGeom>
          <a:noFill/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822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·  RESEARCH QUESTION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401(k) Participation Build Wealth?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832104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question: does enrolling in a 401(k) plan cause a household to accumulate more total wealth?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011680"/>
            <a:ext cx="3017520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(D)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401(k) Participation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2331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5BA4CF"/>
                </a:solidFill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343400" y="2011680"/>
            <a:ext cx="3017520" cy="11430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210312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(Y)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Household Wealth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337560"/>
            <a:ext cx="8321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3337560"/>
            <a:ext cx="91440" cy="13258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7955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</a:t>
            </a: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E[Y(1) − Y(0)]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Average effect across all households
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ATET</a:t>
            </a: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E[Y(1) − Y(0) | D = 1]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Average effect among households that actually participated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822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·  ESTIMATION TECHNIQUE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Rigorous LASSO / Post-LASSO Treatment Effects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6217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estimates causal treatment effects when you have many possible control variables — more than OLS can handle reliably.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87452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2606040" cy="475488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94767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STEP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 Treatment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Outcome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LASSO on all controls separately to predict who participates (D) and what wealth looks like (Y).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17520" y="30175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A4CF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46120" y="187452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46120" y="1874520"/>
            <a:ext cx="2606040" cy="4754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91840" y="194767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STEP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4688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Residualize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(Partial Out)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324612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the LASSO predictions. The residuals strip away confounding, leaving only the variation in D not explained by controls.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52160" y="30175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A4CF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080760" y="187452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80760" y="1874520"/>
            <a:ext cx="260604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194767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STEP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24688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 Effect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324612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 the residual Y on residual D. The result is the ATE (or ATET) — orthogonal estimating equations ensure valid inference.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822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·  WHY THIS METHOD IS NEEDED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Selection Problem: Raw Comparison Is Biased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91440" cy="68580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152144"/>
            <a:ext cx="7955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401(k) participants are not randomly assigned — they tend to have higher income, stronger saving preferences, and different job types than non-participants.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39319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920240"/>
            <a:ext cx="3931920" cy="45720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Plain OLS Breaks Down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2514600"/>
            <a:ext cx="109728" cy="10972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44144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controls → omitted variable bias (self-selection inflates effect)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264408"/>
            <a:ext cx="109728" cy="10972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191256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controls → overfitting, noisy estimates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4014216"/>
            <a:ext cx="109728" cy="10972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941064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principled way to choose which controls to include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1920240"/>
            <a:ext cx="3931920" cy="2743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1920240"/>
            <a:ext cx="3931920" cy="4572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1965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LASSO Solves 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2542032"/>
            <a:ext cx="164592" cy="164592"/>
          </a:xfrm>
          <a:prstGeom prst="ellipse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66360" y="245059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Data-adaptively selects the right controls — no researcher guesswork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92040" y="3291840"/>
            <a:ext cx="164592" cy="164592"/>
          </a:xfrm>
          <a:prstGeom prst="ellipse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66360" y="320040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equations isolate the treatment effect from selection bias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92040" y="4041648"/>
            <a:ext cx="164592" cy="164592"/>
          </a:xfrm>
          <a:prstGeom prst="ellipse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66360" y="395020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inference even after high-dimensional variable selection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476402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without LASSO, we cannot tell whether wealth differences reflect the 401(k) or pre-existing saver characteristics.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822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·  DATA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1991 SIPP Pension Dataset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201168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9,915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8470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1115568"/>
            <a:ext cx="201168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06040" y="11887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18470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Variables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201168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1887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$63,817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18470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Total Wealth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0" y="1115568"/>
            <a:ext cx="201168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03720" y="11887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18470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Rate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2514600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2514600"/>
            <a:ext cx="91440" cy="7132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25603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(D)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28163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p401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2606040"/>
            <a:ext cx="6309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 if household participates in a 401(k) plan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3319272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319272"/>
            <a:ext cx="9144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336499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(Y)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362102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86000" y="3410712"/>
            <a:ext cx="6309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wealth in 1991 dollars (checking, bonds, stocks, housing, vehicles, business)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11480" y="4123944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1480" y="4123944"/>
            <a:ext cx="91440" cy="7132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" y="416966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4360" y="44256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SIPP 1991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86000" y="4215384"/>
            <a:ext cx="6309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Income and Program Participation — household reference persons aged 25–64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11480" y="4818888"/>
            <a:ext cx="8321040" cy="22860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482803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controls: income brackets · age groups · family size · education · marital status · home ownership · IRA participation · two-earner status · defined benefit pension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822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·  WHAT I REPLICATED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6.3 — ATE &amp; ATET from the Paper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5943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 Table 1 from Section 6.3: ATE and ATET estimates for 401(k) participation on total wealth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874520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91440" cy="658368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14884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 only Section 6.3 — the simple model specification (not all-interactions model)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624328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2624328"/>
            <a:ext cx="91440" cy="658368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6700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898648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·  hdm package  ·  rlassoATE() and rlassoATET() functions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374136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3374136"/>
            <a:ext cx="91440" cy="658368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41985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3648456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automatically writes LaTeX output tables via xtable; Makefile orchestrates the full pipeline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123944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4123944"/>
            <a:ext cx="91440" cy="658368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416966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4398264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github.com/Patrick137469/hdm-401k-replication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57800" y="1828800"/>
            <a:ext cx="3474720" cy="3200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94960" y="19202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233172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C8E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hdm_401k_replication/</a:t>
            </a:r>
            <a:endParaRPr lang="en-US" sz="105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C8E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input/       &lt;- data</a:t>
            </a:r>
            <a:endParaRPr lang="en-US" sz="105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C8E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code/        &lt;- R scripts</a:t>
            </a:r>
            <a:endParaRPr lang="en-US" sz="105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C8E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output/      &lt;- tables</a:t>
            </a:r>
            <a:endParaRPr lang="en-US" sz="105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C8E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paper/       &lt;- write-up</a:t>
            </a:r>
            <a:endParaRPr lang="en-US" sz="105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C8E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Makefile</a:t>
            </a:r>
            <a:endParaRPr lang="en-US" sz="105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C8E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README.md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822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 ·  RESULTS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Replication Results Match the Paper Exactly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645920" cy="4754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Estimand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057400" y="1078992"/>
            <a:ext cx="1828800" cy="4754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03120" y="11155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($)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86200" y="1078992"/>
            <a:ext cx="1828800" cy="4754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31920" y="11155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Error ($)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15000" y="1078992"/>
            <a:ext cx="1280160" cy="4754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60720" y="111556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t-value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95160" y="1078992"/>
            <a:ext cx="1371600" cy="4754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40880" y="111556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1554480"/>
            <a:ext cx="1645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057400" y="1554480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03120" y="160020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10,180.09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886200" y="1554480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31920" y="160020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1,930.68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715000" y="1554480"/>
            <a:ext cx="1280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60720" y="1600200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5.27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95160" y="1554480"/>
            <a:ext cx="1371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40880" y="160020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" y="2212848"/>
            <a:ext cx="1645920" cy="621792"/>
          </a:xfrm>
          <a:prstGeom prst="rect">
            <a:avLst/>
          </a:prstGeom>
          <a:solidFill>
            <a:srgbClr val="E8EEF4"/>
          </a:solidFill>
          <a:ln w="12700">
            <a:solidFill>
              <a:srgbClr val="D0D9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2258568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057400" y="2212848"/>
            <a:ext cx="1828800" cy="621792"/>
          </a:xfrm>
          <a:prstGeom prst="rect">
            <a:avLst/>
          </a:prstGeom>
          <a:solidFill>
            <a:srgbClr val="E8EEF4"/>
          </a:solidFill>
          <a:ln w="12700">
            <a:solidFill>
              <a:srgbClr val="D0D9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103120" y="225856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12,628.46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3886200" y="2212848"/>
            <a:ext cx="1828800" cy="621792"/>
          </a:xfrm>
          <a:prstGeom prst="rect">
            <a:avLst/>
          </a:prstGeom>
          <a:solidFill>
            <a:srgbClr val="E8EEF4"/>
          </a:solidFill>
          <a:ln w="12700">
            <a:solidFill>
              <a:srgbClr val="D0D9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931920" y="225856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2,944.43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715000" y="2212848"/>
            <a:ext cx="1280160" cy="621792"/>
          </a:xfrm>
          <a:prstGeom prst="rect">
            <a:avLst/>
          </a:prstGeom>
          <a:solidFill>
            <a:srgbClr val="E8EEF4"/>
          </a:solidFill>
          <a:ln w="12700">
            <a:solidFill>
              <a:srgbClr val="D0D9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760720" y="225856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4.29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995160" y="2212848"/>
            <a:ext cx="1371600" cy="621792"/>
          </a:xfrm>
          <a:prstGeom prst="rect">
            <a:avLst/>
          </a:prstGeom>
          <a:solidFill>
            <a:srgbClr val="E8EEF4"/>
          </a:solidFill>
          <a:ln w="12700">
            <a:solidFill>
              <a:srgbClr val="D0D9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040880" y="2258568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11480" y="2907792"/>
            <a:ext cx="832104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2935224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Section 6.3 of the original paper to the last decimal place</a:t>
            </a:r>
            <a:endParaRPr lang="en-US" sz="130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411480" y="3566160"/>
          <a:ext cx="8321040" cy="148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 ·  PLAIN ENGLISH INTERPRETATION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 the Numbers Actually Mean?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4160520" cy="3429000"/>
          </a:xfrm>
          <a:prstGeom prst="rect">
            <a:avLst/>
          </a:prstGeom>
          <a:solidFill>
            <a:srgbClr val="1B6CA8"/>
          </a:solidFill>
          <a:ln w="12700">
            <a:solidFill>
              <a:srgbClr val="5BA4CF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+$10,180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25146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Treatment Effect (ATE)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9077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households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" y="32461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randomly selected household enrolled in a 401(k) accumulated about $10,200 more in total wealth than they would have without it — holding income, age, family size, and all other observed characteristics constant.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4160520" cy="3429000"/>
          </a:xfrm>
          <a:prstGeom prst="rect">
            <a:avLst/>
          </a:prstGeom>
          <a:solidFill>
            <a:srgbClr val="1B6CA8"/>
          </a:solidFill>
          <a:ln w="12700">
            <a:solidFill>
              <a:srgbClr val="5BA4CF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48132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+$12,628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937760" y="25146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 on the Treated (ATET)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9077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actual participants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10912" y="32461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that actually enrolled benefited even more — about $12,600 extra. The ATET &gt; ATE gap suggests that people who choose to participate may have traits that amplify the savings benefit.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846320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estimates are highly statistically significant (p &lt; 0.001). The economic magnitude — over $10,000 — is large relative to average wealth of $63,817.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822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 ·  CHALLENGES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Hard About the Replication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233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4023360" cy="43891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2529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Scoping the Right Result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00784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has many empirical applications (wage, GDP growth, eminent domain, 401k). Narrowing to just ATE/ATET in Section 6.3 took careful reading.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170432"/>
            <a:ext cx="40233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023360" cy="43891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22529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ATE vs ATET vs LATE vs LATET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700784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reports four estimands. Understanding which is which — and why ATET uses treated-only variation — required working through the theory.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980944"/>
            <a:ext cx="40233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980944"/>
            <a:ext cx="4023360" cy="43891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03580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Workflow Infrastructure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511296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R, LaTeX output via xtable, the Makefile pipeline, and a clean GitHub repository was time-consuming but essential for reproducibility.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2980944"/>
            <a:ext cx="40233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980944"/>
            <a:ext cx="4023360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303580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 Specification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511296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also runs an all-interactions model. Making sure I replicated the simple model (not the interaction model) required careful code reading.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476402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reproducibility requires clean data, code, outputs, and documentation — it is a workflow, not just a final number.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 ·  CONCLUSION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Learned from the Replication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8321040" cy="777240"/>
          </a:xfrm>
          <a:prstGeom prst="rect">
            <a:avLst/>
          </a:prstGeom>
          <a:solidFill>
            <a:srgbClr val="162340"/>
          </a:solidFill>
          <a:ln w="12700">
            <a:solidFill>
              <a:srgbClr val="1E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128016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Succeeded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664208"/>
            <a:ext cx="79095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D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 = $10,180 and ATET = $12,628 matched the paper to the last decimal. The hdm package, data, and code all being open-source made exact replication achievable.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221992"/>
            <a:ext cx="8321040" cy="777240"/>
          </a:xfrm>
          <a:prstGeom prst="rect">
            <a:avLst/>
          </a:prstGeom>
          <a:solidFill>
            <a:srgbClr val="162340"/>
          </a:solidFill>
          <a:ln w="12700">
            <a:solidFill>
              <a:srgbClr val="1E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221992"/>
            <a:ext cx="128016" cy="77724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22677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Works for Causal Inference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560320"/>
            <a:ext cx="79095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D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Post-LASSO orthogonal estimating equations provide a principled, valid way to adjust for many confounders without researcher degrees of freedom in control selection.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3118104"/>
            <a:ext cx="8321040" cy="777240"/>
          </a:xfrm>
          <a:prstGeom prst="rect">
            <a:avLst/>
          </a:prstGeom>
          <a:solidFill>
            <a:srgbClr val="162340"/>
          </a:solidFill>
          <a:ln w="12700">
            <a:solidFill>
              <a:srgbClr val="1E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3118104"/>
            <a:ext cx="128016" cy="7772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31638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401(k) Genuinely Builds Wealth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3456432"/>
            <a:ext cx="79095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D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controlling for income, age, saving preference proxies, and other household traits, participation still raises total wealth by $10-13k — a real, meaningful effect.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4014216"/>
            <a:ext cx="8321040" cy="777240"/>
          </a:xfrm>
          <a:prstGeom prst="rect">
            <a:avLst/>
          </a:prstGeom>
          <a:solidFill>
            <a:srgbClr val="162340"/>
          </a:solidFill>
          <a:ln w="12700">
            <a:solidFill>
              <a:srgbClr val="1E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4014216"/>
            <a:ext cx="128016" cy="7772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" y="40599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Is a Discipline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4352544"/>
            <a:ext cx="79095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D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R scripts to LaTeX tables via a Makefile, version-controlling the repo, and documenting each step made the replication robust and verifiable.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" y="4809744"/>
            <a:ext cx="832104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81888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Chernozhukov, Hansen &amp; Spindler  ·  High-Dimensional Metrics in R  ·  The R Journal, 2016  ·  Replicated by Patrick Michael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1147</Words>
  <Application>Microsoft Office PowerPoint</Application>
  <PresentationFormat>On-screen Show (16:9)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Patrick John Michael</cp:lastModifiedBy>
  <cp:revision>2</cp:revision>
  <dcterms:created xsi:type="dcterms:W3CDTF">2026-05-29T22:11:18Z</dcterms:created>
  <dcterms:modified xsi:type="dcterms:W3CDTF">2026-05-31T01:54:17Z</dcterms:modified>
</cp:coreProperties>
</file>