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88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 ($)</c:v>
                </c:pt>
              </c:strCache>
            </c:strRef>
          </c:tx>
          <c:spPr>
            <a:solidFill>
              <a:srgbClr val="1B6C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C2B-4EC4-B6CB-76AAF20BDD82}"/>
              </c:ext>
            </c:extLst>
          </c:dPt>
          <c:dPt>
            <c:idx val="1"/>
            <c:invertIfNegative val="0"/>
            <c:bubble3D val="0"/>
            <c:spPr>
              <a:solidFill>
                <a:srgbClr val="0F20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C2B-4EC4-B6CB-76AAF20BDD82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3203443-0774-4300-BBE9-76B5A8E21CA1}" type="VALUE">
                      <a:rPr lang="en-US">
                        <a:solidFill>
                          <a:schemeClr val="accent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CC2B-4EC4-B6CB-76AAF20BDD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03C3922A-0A00-480B-8FFD-B80ADC1C3C18}" type="VALUE">
                      <a:rPr lang="en-US">
                        <a:solidFill>
                          <a:schemeClr val="tx2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CC2B-4EC4-B6CB-76AAF20BDD82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ATE
(Full sample)</c:v>
                </c:pt>
                <c:pt idx="1">
                  <c:v>ATET
(Treated only)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10180.09</c:v>
                </c:pt>
                <c:pt idx="1">
                  <c:v>12628.46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C2B-4EC4-B6CB-76AAF20BDD8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53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4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1006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 ·  INTRODUCTION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47472" y="658368"/>
            <a:ext cx="6217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Replicating 401(k)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Treatment Effect Estimates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583680" y="1280160"/>
            <a:ext cx="2286000" cy="2671908"/>
          </a:xfrm>
          <a:prstGeom prst="rect">
            <a:avLst/>
          </a:prstGeom>
          <a:solidFill>
            <a:srgbClr val="1B6CA8"/>
          </a:solidFill>
          <a:ln w="12700">
            <a:solidFill>
              <a:srgbClr val="5BA4CF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75120" y="1371600"/>
            <a:ext cx="2103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High-Dimensional
Metrics in R
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Chernozhukov,
Hansen &amp; Spindler
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/ Year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 Journal, 2016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47472" y="2560320"/>
            <a:ext cx="2560320" cy="420624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" y="2560320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Patrick Michael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" y="30906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9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GSE-S552  ·  Replication Project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7472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i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401(k) participation increase household wealth?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7472" y="4279392"/>
            <a:ext cx="8412480" cy="0"/>
          </a:xfrm>
          <a:prstGeom prst="line">
            <a:avLst/>
          </a:prstGeom>
          <a:noFill/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822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 ·  RESEARCH QUESTION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3657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401(k) Participation Build Wealth?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8321040" cy="6858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question: does enrolling in a 401(k) plan cause a household to accumulate more total wealth?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2011680"/>
            <a:ext cx="30175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(D)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401(k) Participation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20440" y="23317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5BA4CF"/>
                </a:solidFill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017520" cy="11430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0" y="210312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(Y)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Household Wealth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3337560"/>
            <a:ext cx="83210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11480" y="3337560"/>
            <a:ext cx="91440" cy="132588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7955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</a:t>
            </a:r>
            <a:r>
              <a:rPr lang="en-US" sz="140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E[Y(1) − Y(0)]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Average effect across all households
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ATET</a:t>
            </a:r>
            <a:r>
              <a:rPr lang="en-US" sz="140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E[Y(1) − Y(0) | D = 1]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Average effect among households that actually participated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822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 ·  ESTIMATION TECHNIQUE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3657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Rigorous LASSO / Post-LASSO Treatment Effects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8321040" cy="62179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133856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estimates causal treatment effects when you have many possible control variables — more than OLS can handle reliably.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874520"/>
            <a:ext cx="26060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874520"/>
            <a:ext cx="2606040" cy="47548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947672"/>
            <a:ext cx="2514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</a:rPr>
              <a:t>STEP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46888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 Treatment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Outcome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246120"/>
            <a:ext cx="2331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LASSO on all controls separately to predict who participates (D) and what wealth looks like (Y).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17520" y="30175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BA4CF"/>
                </a:solidFill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246120" y="1874520"/>
            <a:ext cx="26060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46120" y="1874520"/>
            <a:ext cx="2606040" cy="47548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91840" y="1947672"/>
            <a:ext cx="2514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</a:rPr>
              <a:t>STEP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37560" y="246888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Residualize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(Partial Out)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3246120"/>
            <a:ext cx="2331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 LASSO predictions. The residuals strip away confounding, leaving only the variation in D not explained by controls.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852160" y="30175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BA4CF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080760" y="1874520"/>
            <a:ext cx="26060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80760" y="1874520"/>
            <a:ext cx="2606040" cy="475488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26480" y="1947672"/>
            <a:ext cx="2514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</a:rPr>
              <a:t>STEP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72200" y="246888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Recover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Treatment Effect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0" y="3246120"/>
            <a:ext cx="2331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 the residual Y on residual D. The result is the ATE (or ATET) — orthogonal estimating equations ensure valid inference.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822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 ·  WHY THIS METHOD IS NEEDED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3657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Selection Problem: Raw Comparison Is Biased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83210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97280"/>
            <a:ext cx="91440" cy="685800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152144"/>
            <a:ext cx="795528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401(k) participants are not randomly assigned — they tend to have higher income, stronger saving preferences, and different job types than non-participants.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920240"/>
            <a:ext cx="39319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920240"/>
            <a:ext cx="3931920" cy="457200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19659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Plain OLS Breaks Down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2514600"/>
            <a:ext cx="109728" cy="109728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441448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few controls → omitted variable bias (self-selection inflates effect)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264408"/>
            <a:ext cx="109728" cy="109728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3191256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controls → overfitting, noisy estimates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014216"/>
            <a:ext cx="109728" cy="109728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941064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principled way to choose which controls to include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0" y="1920240"/>
            <a:ext cx="3931920" cy="27432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54880" y="1920240"/>
            <a:ext cx="3931920" cy="4572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00600" y="19659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LASSO Solves 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92040" y="2542032"/>
            <a:ext cx="164592" cy="164592"/>
          </a:xfrm>
          <a:prstGeom prst="ellips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166360" y="2450592"/>
            <a:ext cx="3383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D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Data-adaptively selects the right controls — no researcher guesswork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892040" y="3291840"/>
            <a:ext cx="164592" cy="164592"/>
          </a:xfrm>
          <a:prstGeom prst="ellips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66360" y="3200400"/>
            <a:ext cx="3383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D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equations isolate the treatment effect from selection bias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92040" y="4041648"/>
            <a:ext cx="164592" cy="164592"/>
          </a:xfrm>
          <a:prstGeom prst="ellips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166360" y="3950208"/>
            <a:ext cx="3383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D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inference even after high-dimensional variable selection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11480" y="4754880"/>
            <a:ext cx="8321040" cy="292608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2920" y="476402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without LASSO, we cannot tell whether wealth differences reflect the 401(k) or pre-existing saver characteristics.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822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 ·  DATA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3657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1991 SIPP Pension Dataset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115568"/>
            <a:ext cx="2011680" cy="11887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9,915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84708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60320" y="1115568"/>
            <a:ext cx="2011680" cy="11887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606040" y="1188720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184708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Variables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115568"/>
            <a:ext cx="2011680" cy="11887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0" y="1188720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$63,817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184708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Total Wealth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0" y="1115568"/>
            <a:ext cx="2011680" cy="118872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903720" y="1188720"/>
            <a:ext cx="1920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40.5%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903720" y="184708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Rate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11480" y="2514600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2514600"/>
            <a:ext cx="91440" cy="7132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2560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(D)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94360" y="2816352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p401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286000" y="2606040"/>
            <a:ext cx="6309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=1 if household participates in a 401(k) plan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11480" y="3319272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11480" y="3319272"/>
            <a:ext cx="91440" cy="71323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4360" y="336499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(Y)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621024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286000" y="3410712"/>
            <a:ext cx="6309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wealth in 1991 dollars (checking, bonds, stocks, housing, vehicles, business)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11480" y="4123944"/>
            <a:ext cx="8321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4123944"/>
            <a:ext cx="91440" cy="71323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94360" y="4169664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94360" y="4425696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SIPP 1991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286000" y="4215384"/>
            <a:ext cx="6309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of Income and Program Participation — household reference persons aged 25–64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11480" y="4818888"/>
            <a:ext cx="8321040" cy="228600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2920" y="4828032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controls: income brackets · age groups · family size · education · marital status · home ownership · IRA participation · two-earner status · defined benefit pension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822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 ·  WHAT I REPLICATED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3657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6.3 — ATE &amp; ATET from the Paper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8321040" cy="5943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Replicated Table 1 from Section 6.3: ATE and ATET estimates for 401(k) participation on total wealth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1480" y="1874520"/>
            <a:ext cx="4572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874520"/>
            <a:ext cx="91440" cy="65836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920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94360" y="2148840"/>
            <a:ext cx="4251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Replicated only Section 6.3 — the simple model specification (not all-interactions model)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624328"/>
            <a:ext cx="4572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11480" y="2624328"/>
            <a:ext cx="91440" cy="65836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267004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2898648"/>
            <a:ext cx="4251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 ·  hdm package  ·  rlassoATE() and rlassoATET() functions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3374136"/>
            <a:ext cx="4572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11480" y="3374136"/>
            <a:ext cx="91440" cy="65836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341985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648456"/>
            <a:ext cx="4251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automatically writes LaTeX output tables via xtable; Makefile orchestrates the full pipeline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4123944"/>
            <a:ext cx="4572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1480" y="4123944"/>
            <a:ext cx="91440" cy="65836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4169664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5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4360" y="4398264"/>
            <a:ext cx="4251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github.com/Patrick137469/hdm-401k-replication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257800" y="1828800"/>
            <a:ext cx="3474720" cy="3200400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394960" y="19202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94960" y="233172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65000"/>
              </a:lnSpc>
              <a:buNone/>
            </a:pPr>
            <a:r>
              <a:rPr lang="en-US" sz="1050" dirty="0">
                <a:solidFill>
                  <a:srgbClr val="C8E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hdm_401k_replication/</a:t>
            </a:r>
            <a:endParaRPr lang="en-US" sz="1050" dirty="0"/>
          </a:p>
          <a:p>
            <a:pPr marL="0" indent="0">
              <a:lnSpc>
                <a:spcPct val="165000"/>
              </a:lnSpc>
              <a:buNone/>
            </a:pPr>
            <a:r>
              <a:rPr lang="en-US" sz="1050" dirty="0">
                <a:solidFill>
                  <a:srgbClr val="C8E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input/       &lt;- data</a:t>
            </a:r>
            <a:endParaRPr lang="en-US" sz="1050" dirty="0"/>
          </a:p>
          <a:p>
            <a:pPr marL="0" indent="0">
              <a:lnSpc>
                <a:spcPct val="165000"/>
              </a:lnSpc>
              <a:buNone/>
            </a:pPr>
            <a:r>
              <a:rPr lang="en-US" sz="1050" dirty="0">
                <a:solidFill>
                  <a:srgbClr val="C8E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code/        &lt;- R scripts</a:t>
            </a:r>
            <a:endParaRPr lang="en-US" sz="1050" dirty="0"/>
          </a:p>
          <a:p>
            <a:pPr marL="0" indent="0">
              <a:lnSpc>
                <a:spcPct val="165000"/>
              </a:lnSpc>
              <a:buNone/>
            </a:pPr>
            <a:r>
              <a:rPr lang="en-US" sz="1050" dirty="0">
                <a:solidFill>
                  <a:srgbClr val="C8E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output/      &lt;- tables</a:t>
            </a:r>
            <a:endParaRPr lang="en-US" sz="1050" dirty="0"/>
          </a:p>
          <a:p>
            <a:pPr marL="0" indent="0">
              <a:lnSpc>
                <a:spcPct val="165000"/>
              </a:lnSpc>
              <a:buNone/>
            </a:pPr>
            <a:r>
              <a:rPr lang="en-US" sz="1050" dirty="0">
                <a:solidFill>
                  <a:srgbClr val="C8E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paper/       &lt;- write-up</a:t>
            </a:r>
            <a:endParaRPr lang="en-US" sz="1050" dirty="0"/>
          </a:p>
          <a:p>
            <a:pPr marL="0" indent="0">
              <a:lnSpc>
                <a:spcPct val="165000"/>
              </a:lnSpc>
              <a:buNone/>
            </a:pPr>
            <a:r>
              <a:rPr lang="en-US" sz="1050" dirty="0">
                <a:solidFill>
                  <a:srgbClr val="C8E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Makefile</a:t>
            </a:r>
            <a:endParaRPr lang="en-US" sz="1050" dirty="0"/>
          </a:p>
          <a:p>
            <a:pPr marL="0" indent="0">
              <a:lnSpc>
                <a:spcPct val="165000"/>
              </a:lnSpc>
              <a:buNone/>
            </a:pPr>
            <a:r>
              <a:rPr lang="en-US" sz="1050" dirty="0">
                <a:solidFill>
                  <a:srgbClr val="C8E8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README.md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822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 ·  RESULTS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3657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Replication Results Match the Paper Exactly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1645920" cy="47548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115568"/>
            <a:ext cx="1554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Estimand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057400" y="1078992"/>
            <a:ext cx="1828800" cy="47548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103120" y="1115568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($)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886200" y="1078992"/>
            <a:ext cx="1828800" cy="47548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931920" y="1115568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Std. Error ($)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715000" y="1078992"/>
            <a:ext cx="1280160" cy="47548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760720" y="1115568"/>
            <a:ext cx="1188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t-value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95160" y="1078992"/>
            <a:ext cx="1371600" cy="475488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040880" y="1115568"/>
            <a:ext cx="1280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1554480"/>
            <a:ext cx="1645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1600200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057400" y="1554480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103120" y="1600200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10,180.09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3886200" y="1554480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931920" y="1600200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1,930.68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715000" y="1554480"/>
            <a:ext cx="1280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760720" y="1600200"/>
            <a:ext cx="1188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5.27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995160" y="1554480"/>
            <a:ext cx="13716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040880" y="1600200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0.001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11480" y="2212848"/>
            <a:ext cx="1645920" cy="621792"/>
          </a:xfrm>
          <a:prstGeom prst="rect">
            <a:avLst/>
          </a:prstGeom>
          <a:solidFill>
            <a:srgbClr val="E8EEF4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2258568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20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057400" y="2212848"/>
            <a:ext cx="1828800" cy="621792"/>
          </a:xfrm>
          <a:prstGeom prst="rect">
            <a:avLst/>
          </a:prstGeom>
          <a:solidFill>
            <a:srgbClr val="E8EEF4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103120" y="2258568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12,628.46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3886200" y="2212848"/>
            <a:ext cx="1828800" cy="621792"/>
          </a:xfrm>
          <a:prstGeom prst="rect">
            <a:avLst/>
          </a:prstGeom>
          <a:solidFill>
            <a:srgbClr val="E8EEF4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931920" y="2258568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2,944.43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715000" y="2212848"/>
            <a:ext cx="1280160" cy="621792"/>
          </a:xfrm>
          <a:prstGeom prst="rect">
            <a:avLst/>
          </a:prstGeom>
          <a:solidFill>
            <a:srgbClr val="E8EEF4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760720" y="2258568"/>
            <a:ext cx="1188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4.29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995160" y="2212848"/>
            <a:ext cx="1371600" cy="621792"/>
          </a:xfrm>
          <a:prstGeom prst="rect">
            <a:avLst/>
          </a:prstGeom>
          <a:solidFill>
            <a:srgbClr val="E8EEF4"/>
          </a:solidFill>
          <a:ln w="12700">
            <a:solidFill>
              <a:srgbClr val="D0D9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040880" y="2258568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0.001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11480" y="2907792"/>
            <a:ext cx="8321040" cy="548640"/>
          </a:xfrm>
          <a:prstGeom prst="rect">
            <a:avLst/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48640" y="2935224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Section 6.3 of the original paper to the last decimal place</a:t>
            </a:r>
            <a:endParaRPr lang="en-US" sz="1300" dirty="0"/>
          </a:p>
        </p:txBody>
      </p:sp>
      <p:graphicFrame>
        <p:nvGraphicFramePr>
          <p:cNvPr id="37" name="Chart 0"/>
          <p:cNvGraphicFramePr/>
          <p:nvPr>
            <p:extLst>
              <p:ext uri="{D42A27DB-BD31-4B8C-83A1-F6EECF244321}">
                <p14:modId xmlns:p14="http://schemas.microsoft.com/office/powerpoint/2010/main" val="484516693"/>
              </p:ext>
            </p:extLst>
          </p:nvPr>
        </p:nvGraphicFramePr>
        <p:xfrm>
          <a:off x="411480" y="3566160"/>
          <a:ext cx="8321040" cy="1481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 ·  PLAIN ENGLISH INTERPRETATION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Do the Numbers Actually Mean?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4160520" cy="3429000"/>
          </a:xfrm>
          <a:prstGeom prst="rect">
            <a:avLst/>
          </a:prstGeom>
          <a:solidFill>
            <a:srgbClr val="1B6CA8"/>
          </a:solidFill>
          <a:ln w="12700">
            <a:solidFill>
              <a:srgbClr val="5BA4CF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481328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+$10,180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02920" y="251460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Treatment Effect (ATE)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907792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households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76072" y="324612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D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randomly selected household enrolled in a 401(k) accumulated about $10,200 more in total wealth than they would have without it — holding income, age, family size, and all other observed characteristics constant.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325880"/>
            <a:ext cx="4160520" cy="3429000"/>
          </a:xfrm>
          <a:prstGeom prst="rect">
            <a:avLst/>
          </a:prstGeom>
          <a:solidFill>
            <a:srgbClr val="1B6CA8"/>
          </a:solidFill>
          <a:ln w="12700">
            <a:solidFill>
              <a:srgbClr val="5BA4CF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0" y="1481328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0A5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+$12,628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937760" y="2514600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 on the Treated (ATET)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2907792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actual participants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10912" y="324612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D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that actually enrolled benefited even more — about $12,600 extra. The ATET &gt; ATE gap suggests that people who choose to participate may have traits that amplify the savings benefit.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321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A9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estimates are highly statistically significant (p &lt; 0.001). The economic magnitude — over $10,000 — is large relative to average wealth of $63,817.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8755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8229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 ·  CHALLENGES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36576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Was Hard About the Replication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40233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4023360" cy="43891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225296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Scoping the Right Result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700784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 has many empirical applications (wage, GDP growth, eminent domain, 401k). Narrowing to just ATE/ATET in Section 6.3 took careful reading.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170432"/>
            <a:ext cx="40233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170432"/>
            <a:ext cx="4023360" cy="43891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225296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ATE vs ATET vs LATE vs LATET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92040" y="1700784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 reports four estimands. Understanding which is which — and why ATET uses treated-only variation — required working through the theory.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2980944"/>
            <a:ext cx="40233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980944"/>
            <a:ext cx="4023360" cy="438912"/>
          </a:xfrm>
          <a:prstGeom prst="rect">
            <a:avLst/>
          </a:prstGeom>
          <a:solidFill>
            <a:srgbClr val="0F2044"/>
          </a:solidFill>
          <a:ln w="12700">
            <a:solidFill>
              <a:srgbClr val="0F20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303580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Workflow Infrastructure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511296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 R, LaTeX output via xtable, the Makefile pipeline, and a clean GitHub repository was time-consuming but essential for reproducibility.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0" y="2980944"/>
            <a:ext cx="40233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54880" y="2980944"/>
            <a:ext cx="4023360" cy="43891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303580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 Specification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3511296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2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 also runs an all-interactions model. Making sure I replicated the simple model (not the interaction model) required careful code reading.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11480" y="4754880"/>
            <a:ext cx="8321040" cy="292608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" y="4764024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lesson: reproducibility requires clean data, code, outputs, and documentation — it is a workflow, not just a final number.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 ·  CONCLUSION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Learned from the Replication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8321040" cy="777240"/>
          </a:xfrm>
          <a:prstGeom prst="rect">
            <a:avLst/>
          </a:prstGeom>
          <a:solidFill>
            <a:srgbClr val="162340"/>
          </a:solidFill>
          <a:ln w="12700">
            <a:solidFill>
              <a:srgbClr val="1E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28016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58368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Succeeded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1664208"/>
            <a:ext cx="79095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DD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 = $10,180 and ATET = $12,628 matched the paper to the last decimal. The hdm package, data, and code all being open-source made exact replication achievable.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2221992"/>
            <a:ext cx="8321040" cy="777240"/>
          </a:xfrm>
          <a:prstGeom prst="rect">
            <a:avLst/>
          </a:prstGeom>
          <a:solidFill>
            <a:srgbClr val="162340"/>
          </a:solidFill>
          <a:ln w="12700">
            <a:solidFill>
              <a:srgbClr val="1E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2221992"/>
            <a:ext cx="128016" cy="77724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2677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Works for Causal Inference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2560320"/>
            <a:ext cx="79095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DD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Post-LASSO orthogonal estimating equations provide a principled, valid way to adjust for many confounders without researcher degrees of freedom in control selection.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11480" y="3118104"/>
            <a:ext cx="8321040" cy="777240"/>
          </a:xfrm>
          <a:prstGeom prst="rect">
            <a:avLst/>
          </a:prstGeom>
          <a:solidFill>
            <a:srgbClr val="162340"/>
          </a:solidFill>
          <a:ln w="12700">
            <a:solidFill>
              <a:srgbClr val="1E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11480" y="3118104"/>
            <a:ext cx="128016" cy="77724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8368" y="31638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401(k) Genuinely Builds Wealth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456432"/>
            <a:ext cx="79095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DD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controlling for income, age, saving preference proxies, and other household traits, participation still raises total wealth by $10-13k — a real, meaningful effect.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1480" y="4014216"/>
            <a:ext cx="8321040" cy="777240"/>
          </a:xfrm>
          <a:prstGeom prst="rect">
            <a:avLst/>
          </a:prstGeom>
          <a:solidFill>
            <a:srgbClr val="162340"/>
          </a:solidFill>
          <a:ln w="12700">
            <a:solidFill>
              <a:srgbClr val="1E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11480" y="4014216"/>
            <a:ext cx="128016" cy="77724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8368" y="405993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Is a Discipline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" y="4352544"/>
            <a:ext cx="79095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DD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R scripts to LaTeX tables via a Makefile, version-controlling the repo, and documenting each step made the replication robust and verifiable.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11480" y="4809744"/>
            <a:ext cx="8321040" cy="256032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481888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Chernozhukov, Hansen &amp; Spindler  ·  High-Dimensional Metrics in R  ·  The R Journal, 2016  ·  Replicated by Patrick Michael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1149</Words>
  <Application>Microsoft Office PowerPoint</Application>
  <PresentationFormat>On-screen Show (16:9)</PresentationFormat>
  <Paragraphs>153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Patrick John Michael</cp:lastModifiedBy>
  <cp:revision>3</cp:revision>
  <dcterms:created xsi:type="dcterms:W3CDTF">2026-05-29T22:11:18Z</dcterms:created>
  <dcterms:modified xsi:type="dcterms:W3CDTF">2026-06-02T20:47:06Z</dcterms:modified>
</cp:coreProperties>
</file>